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ibre Franklin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ibreFranklin-bold.fntdata"/><Relationship Id="rId10" Type="http://schemas.openxmlformats.org/officeDocument/2006/relationships/slide" Target="slides/slide5.xml"/><Relationship Id="rId21" Type="http://schemas.openxmlformats.org/officeDocument/2006/relationships/font" Target="fonts/LibreFranklin-regular.fntdata"/><Relationship Id="rId13" Type="http://schemas.openxmlformats.org/officeDocument/2006/relationships/slide" Target="slides/slide8.xml"/><Relationship Id="rId24" Type="http://schemas.openxmlformats.org/officeDocument/2006/relationships/font" Target="fonts/LibreFranklin-boldItalic.fntdata"/><Relationship Id="rId12" Type="http://schemas.openxmlformats.org/officeDocument/2006/relationships/slide" Target="slides/slide7.xml"/><Relationship Id="rId23" Type="http://schemas.openxmlformats.org/officeDocument/2006/relationships/font" Target="fonts/LibreFrankli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8f0e3055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8f0e3055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2a8f0e30550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8f0e3055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8f0e3055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a8f0e3055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272b999f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272b999f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2e272b999f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8f0e30550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8f0e30550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a8f0e30550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272b999f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272b999f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2e272b999f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8f0e30550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8f0e3055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a8f0e30550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272b999fe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272b999fe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e272b999fe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8f0e30550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a8f0e3055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a8f0e30550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a8f0e30550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a8f0e30550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2a8f0e30550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8f0e30550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8f0e30550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a8f0e30550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272b999fe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272b999fe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e272b999fe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272b999fe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272b999fe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e272b999fe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272b999fe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272b999fe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2e272b999fe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8f0e30550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8f0e30550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a8f0e30550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>
  <p:cSld name="Diapositive de titr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866" l="8633" r="10831" t="2962"/>
          <a:stretch/>
        </p:blipFill>
        <p:spPr>
          <a:xfrm>
            <a:off x="1779850" y="0"/>
            <a:ext cx="7364148" cy="47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348175" y="3124925"/>
            <a:ext cx="1828800" cy="155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15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47" y="80283"/>
            <a:ext cx="1175301" cy="50865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type="title"/>
          </p:nvPr>
        </p:nvSpPr>
        <p:spPr>
          <a:xfrm>
            <a:off x="6183750" y="688575"/>
            <a:ext cx="2828400" cy="2425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180000" spcFirstLastPara="1" rIns="7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4" orient="horz" pos="123">
          <p15:clr>
            <a:srgbClr val="FBAE40"/>
          </p15:clr>
        </p15:guide>
        <p15:guide id="5" orient="horz" pos="3117">
          <p15:clr>
            <a:srgbClr val="FBAE40"/>
          </p15:clr>
        </p15:guide>
        <p15:guide id="6" pos="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>
  <p:cSld name="Titre seul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904875" y="131025"/>
            <a:ext cx="772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re et contenu">
  <p:cSld name="4_Titre et contenu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049395" y="131032"/>
            <a:ext cx="3144520" cy="107275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154125" y="1066498"/>
            <a:ext cx="47673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30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1pPr>
            <a:lvl2pPr indent="-32385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2pPr>
            <a:lvl3pPr indent="-314325" lvl="2" marL="1371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▪"/>
              <a:defRPr sz="1350"/>
            </a:lvl3pPr>
            <a:lvl4pPr indent="-342900" lvl="3" marL="1828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04875" y="827623"/>
            <a:ext cx="7726500" cy="4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re seul">
  <p:cSld name="3_Titre seul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904875" y="1563688"/>
            <a:ext cx="7646988" cy="143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et contenu">
  <p:cSld name="1_Titre et contenu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" type="body"/>
          </p:nvPr>
        </p:nvSpPr>
        <p:spPr>
          <a:xfrm>
            <a:off x="90487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seul">
  <p:cSld name="1_Titre seul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8773475" y="391475"/>
            <a:ext cx="258600" cy="304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6405563" y="2571750"/>
            <a:ext cx="2738400" cy="211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re seul">
  <p:cSld name="4_Titre seul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>
  <p:cSld name="Titre de sec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de section">
  <p:cSld name="2_Titre de se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de section">
  <p:cSld name="1_Titre de sec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1" sz="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et contenu">
  <p:cSld name="2_Titre et contenu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904876" y="131032"/>
            <a:ext cx="31446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re et contenu">
  <p:cSld name="3_Titre et contenu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904875" y="1563688"/>
            <a:ext cx="3671466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959772" y="1563688"/>
            <a:ext cx="3671466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31469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seul">
  <p:cSld name="2_Titre seul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>
            <p:ph idx="2" type="pic"/>
          </p:nvPr>
        </p:nvSpPr>
        <p:spPr>
          <a:xfrm>
            <a:off x="904875" y="0"/>
            <a:ext cx="7726363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  <a:defRPr b="1" i="0" sz="3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04875" y="827623"/>
            <a:ext cx="7726500" cy="4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0273" y="132334"/>
            <a:ext cx="653952" cy="283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4865625" y="2020350"/>
            <a:ext cx="32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 txBox="1"/>
          <p:nvPr/>
        </p:nvSpPr>
        <p:spPr>
          <a:xfrm rot="-5400000">
            <a:off x="-832549" y="3167441"/>
            <a:ext cx="25632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Embedded Sysems Design</a:t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 rot="-5400000">
            <a:off x="7534000" y="1456200"/>
            <a:ext cx="2707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Charlotte Heibig &amp; Ismael Frei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126">
          <p15:clr>
            <a:srgbClr val="F26B43"/>
          </p15:clr>
        </p15:guide>
        <p15:guide id="3" pos="5602">
          <p15:clr>
            <a:srgbClr val="F26B43"/>
          </p15:clr>
        </p15:guide>
        <p15:guide id="4" pos="2880">
          <p15:clr>
            <a:srgbClr val="F26B43"/>
          </p15:clr>
        </p15:guide>
        <p15:guide id="5" orient="horz" pos="123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pos="570">
          <p15:clr>
            <a:srgbClr val="F26B43"/>
          </p15:clr>
        </p15:guide>
        <p15:guide id="8" pos="1155">
          <p15:clr>
            <a:srgbClr val="F26B43"/>
          </p15:clr>
        </p15:guide>
        <p15:guide id="9" pos="1728">
          <p15:clr>
            <a:srgbClr val="F26B43"/>
          </p15:clr>
        </p15:guide>
        <p15:guide id="10" pos="2304">
          <p15:clr>
            <a:srgbClr val="F26B43"/>
          </p15:clr>
        </p15:guide>
        <p15:guide id="11" pos="3456">
          <p15:clr>
            <a:srgbClr val="F26B43"/>
          </p15:clr>
        </p15:guide>
        <p15:guide id="12" pos="4035">
          <p15:clr>
            <a:srgbClr val="F26B43"/>
          </p15:clr>
        </p15:guide>
        <p15:guide id="13" pos="4608">
          <p15:clr>
            <a:srgbClr val="F26B43"/>
          </p15:clr>
        </p15:guide>
        <p15:guide id="14" pos="5180">
          <p15:clr>
            <a:srgbClr val="F26B43"/>
          </p15:clr>
        </p15:guide>
        <p15:guide id="15" orient="horz" pos="490">
          <p15:clr>
            <a:srgbClr val="F26B43"/>
          </p15:clr>
        </p15:guide>
        <p15:guide id="16" orient="horz" pos="985">
          <p15:clr>
            <a:srgbClr val="F26B43"/>
          </p15:clr>
        </p15:guide>
        <p15:guide id="17" orient="horz" pos="1475">
          <p15:clr>
            <a:srgbClr val="F26B43"/>
          </p15:clr>
        </p15:guide>
        <p15:guide id="18" orient="horz" pos="1962">
          <p15:clr>
            <a:srgbClr val="F26B43"/>
          </p15:clr>
        </p15:guide>
        <p15:guide id="19" orient="horz" pos="2458">
          <p15:clr>
            <a:srgbClr val="F26B43"/>
          </p15:clr>
        </p15:guide>
        <p15:guide id="20" orient="horz" pos="2950">
          <p15:clr>
            <a:srgbClr val="F26B43"/>
          </p15:clr>
        </p15:guide>
        <p15:guide id="21" pos="5437">
          <p15:clr>
            <a:srgbClr val="F26B43"/>
          </p15:clr>
        </p15:guide>
        <p15:guide id="22" orient="horz">
          <p15:clr>
            <a:srgbClr val="F26B43"/>
          </p15:clr>
        </p15:guide>
        <p15:guide id="23" pos="5760">
          <p15:clr>
            <a:srgbClr val="F26B43"/>
          </p15:clr>
        </p15:guide>
        <p15:guide id="24" orient="horz" pos="324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4.png"/><Relationship Id="rId5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4348175" y="3124925"/>
            <a:ext cx="1828800" cy="155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fr-FR" sz="1400"/>
              <a:t>Charlotte Heibig</a:t>
            </a:r>
            <a:endParaRPr b="1" sz="1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fr-FR" sz="1400"/>
              <a:t>Ismael Frei</a:t>
            </a:r>
            <a:endParaRPr b="1" sz="1400"/>
          </a:p>
        </p:txBody>
      </p:sp>
      <p:sp>
        <p:nvSpPr>
          <p:cNvPr id="88" name="Google Shape;88;p18"/>
          <p:cNvSpPr txBox="1"/>
          <p:nvPr>
            <p:ph idx="4294967295" type="body"/>
          </p:nvPr>
        </p:nvSpPr>
        <p:spPr>
          <a:xfrm>
            <a:off x="6183750" y="4683125"/>
            <a:ext cx="1828800" cy="46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-FR" sz="1100"/>
              <a:t>EPFL </a:t>
            </a:r>
            <a:r>
              <a:rPr b="1" lang="fr-FR" sz="1100"/>
              <a:t>- 07.06.2024</a:t>
            </a:r>
            <a:endParaRPr sz="1100"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6183750" y="688575"/>
            <a:ext cx="2828400" cy="2425200"/>
          </a:xfrm>
          <a:prstGeom prst="rect">
            <a:avLst/>
          </a:prstGeom>
        </p:spPr>
        <p:txBody>
          <a:bodyPr anchorCtr="0" anchor="ctr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Embedded Systems Design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4294967295" type="body"/>
          </p:nvPr>
        </p:nvSpPr>
        <p:spPr>
          <a:xfrm>
            <a:off x="2231175" y="1341275"/>
            <a:ext cx="4827600" cy="33867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Part I : Software Implementation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Part II : Hardware accelerator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Part III : Profiling 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Part IV : Further optimization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Part V : Dynamic Thresholding Feature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Demo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Questions</a:t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904875" y="131025"/>
            <a:ext cx="7726500" cy="5541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Overview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Part I: Sobel edge detection algorithm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077100" y="1341275"/>
            <a:ext cx="7509300" cy="33867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Apply kernels to each pixel and its 8 surrounding pixels to detect intensity differences in every direction</a:t>
            </a:r>
            <a:endParaRPr/>
          </a:p>
          <a:p>
            <a:pPr indent="-33147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Identify where the intensity changes rapidly according to a certain threshold to detect edges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Results in a new black and white image with only edges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Used already provided 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Result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825" y="654225"/>
            <a:ext cx="5577365" cy="41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904875" y="777878"/>
            <a:ext cx="7726500" cy="41724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T</a:t>
            </a:r>
            <a:r>
              <a:rPr lang="fr-FR"/>
              <a:t>ake a grayscale picture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Perform the Sobel algorithm and store the result in memory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Take a second picture and perform the Sobel algorithm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Compare the two results pixel by pixel</a:t>
            </a:r>
            <a:endParaRPr/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If the result is different from 0, then the edge has changed, given a certain threshold (so that movement is only detected after a certain number of pixel changes)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Movement detection using Sobel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Result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75" y="602975"/>
            <a:ext cx="7161336" cy="43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Part II: Sobel as a Custom Instruction</a:t>
            </a:r>
            <a:endParaRPr/>
          </a:p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366700" y="777875"/>
            <a:ext cx="4404300" cy="41724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A simple custom Instruction can be created for sobel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valueA and valueB store 8 bytes -&gt; perfect for 8 neighbouring pixels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No registers or clock, purely combinational logic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0" r="27515" t="0"/>
          <a:stretch/>
        </p:blipFill>
        <p:spPr>
          <a:xfrm>
            <a:off x="563872" y="777875"/>
            <a:ext cx="3802824" cy="4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Result</a:t>
            </a:r>
            <a:endParaRPr/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313" y="824550"/>
            <a:ext cx="5577365" cy="41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779425" y="1181350"/>
            <a:ext cx="7143600" cy="16932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</a:t>
            </a:r>
            <a:r>
              <a:rPr lang="fr-FR"/>
              <a:t>educes the CPU cycles by a factor of 3.25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the CPU stall cycles by a factor of 3.15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CPU bus-idle cycles by a factor of 3.38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Still room for improvement !</a:t>
            </a:r>
            <a:endParaRPr/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736575" y="138125"/>
            <a:ext cx="8205600" cy="12795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Comparison of the Sobel </a:t>
            </a:r>
            <a:r>
              <a:rPr lang="fr-FR"/>
              <a:t>algorithm</a:t>
            </a:r>
            <a:r>
              <a:rPr lang="fr-FR"/>
              <a:t> : </a:t>
            </a:r>
            <a:r>
              <a:rPr lang="fr-FR"/>
              <a:t>hardware and software implementation</a:t>
            </a:r>
            <a:endParaRPr/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5" y="2625675"/>
            <a:ext cx="78581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904875" y="1075800"/>
            <a:ext cx="7318500" cy="11682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CPU cycles by a factor of 1.1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10x faster than Sobel -&gt; not really relevant</a:t>
            </a:r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593200" y="130900"/>
            <a:ext cx="8299800" cy="8046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/>
              <a:t>M</a:t>
            </a:r>
            <a:r>
              <a:rPr lang="fr-FR" sz="2600"/>
              <a:t>ovement detection algorithm HW implementation</a:t>
            </a:r>
            <a:endParaRPr sz="2600"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063" y="2384300"/>
            <a:ext cx="787717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904875" y="868825"/>
            <a:ext cx="7088400" cy="40815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20"/>
              <a:buChar char="-"/>
            </a:pPr>
            <a:r>
              <a:rPr lang="fr-FR"/>
              <a:t>Use DMA controller and SRAM as a “ping peng pang pong buffer” (divide SRAM into 4 buffers)</a:t>
            </a:r>
            <a:endParaRPr/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-"/>
            </a:pPr>
            <a:r>
              <a:rPr lang="fr-FR"/>
              <a:t>3 rows are in the buffer and worked with while one new row is added to the buffer in the background</a:t>
            </a:r>
            <a:endParaRPr/>
          </a:p>
          <a:p>
            <a:pPr indent="-33147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20"/>
              <a:buChar char="-"/>
            </a:pPr>
            <a:r>
              <a:rPr lang="fr-FR"/>
              <a:t>Each buffer needs 640 bytes of space, which means that in total we need 640 words for the four buffers (2560 bytes)</a:t>
            </a:r>
            <a:endParaRPr/>
          </a:p>
        </p:txBody>
      </p:sp>
      <p:sp>
        <p:nvSpPr>
          <p:cNvPr id="171" name="Google Shape;171;p28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Part IV: Sobel algorithm optimization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Dual port SSRAM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275" y="3199150"/>
            <a:ext cx="553402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904875" y="868825"/>
            <a:ext cx="7088400" cy="22458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Problem: Pixels are saved as bytes inside words. Only entire words can be accessed.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Solution: customized SSRAM that lets user access Words with byte offset. 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Example: Word 1 with offset 3 outputs {W1B3,W3B0:B2}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904875" y="1075800"/>
            <a:ext cx="7318500" cy="14991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-331470" lvl="0" marL="457200" rtl="0" algn="l">
              <a:spcBef>
                <a:spcPts val="75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CPU cycles by a factor of 15 !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the CPU stall cycles by a factor of 13.9</a:t>
            </a:r>
            <a:endParaRPr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Reduces CPU bus-idle cycles by a factor of 16.2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/>
              <a:t>Now the movement detection algorithm and Sobel operate at the same speed !</a:t>
            </a:r>
            <a:endParaRPr/>
          </a:p>
        </p:txBody>
      </p:sp>
      <p:sp>
        <p:nvSpPr>
          <p:cNvPr id="188" name="Google Shape;188;p30"/>
          <p:cNvSpPr txBox="1"/>
          <p:nvPr>
            <p:ph type="title"/>
          </p:nvPr>
        </p:nvSpPr>
        <p:spPr>
          <a:xfrm>
            <a:off x="593200" y="130900"/>
            <a:ext cx="8299800" cy="8046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/>
              <a:t>Comparison of the Sobel algorithm with and without DMA</a:t>
            </a:r>
            <a:endParaRPr sz="2600"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38" y="3220725"/>
            <a:ext cx="7983326" cy="14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904875" y="648225"/>
            <a:ext cx="3667200" cy="33867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fr-FR"/>
              <a:t>Too much edges detected:</a:t>
            </a:r>
            <a:endParaRPr/>
          </a:p>
          <a:p>
            <a:pPr indent="-331470" lvl="0" marL="457200" rtl="0" algn="l">
              <a:spcBef>
                <a:spcPts val="750"/>
              </a:spcBef>
              <a:spcAft>
                <a:spcPts val="0"/>
              </a:spcAft>
              <a:buSzPts val="1620"/>
              <a:buChar char="-"/>
            </a:pPr>
            <a:r>
              <a:rPr lang="fr-FR"/>
              <a:t>increase threshold</a:t>
            </a:r>
            <a:endParaRPr/>
          </a:p>
        </p:txBody>
      </p:sp>
      <p:sp>
        <p:nvSpPr>
          <p:cNvPr id="197" name="Google Shape;197;p31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Part V: Dynamic Thresholding Feature</a:t>
            </a:r>
            <a:endParaRPr/>
          </a:p>
        </p:txBody>
      </p:sp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25" y="2420100"/>
            <a:ext cx="3352725" cy="253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3850" y="2420100"/>
            <a:ext cx="3352725" cy="253029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4679375" y="654225"/>
            <a:ext cx="3667200" cy="3386700"/>
          </a:xfrm>
          <a:prstGeom prst="rect">
            <a:avLst/>
          </a:prstGeom>
        </p:spPr>
        <p:txBody>
          <a:bodyPr anchorCtr="0" anchor="t" bIns="45700" lIns="180000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fr-FR"/>
              <a:t>Not much edges detected</a:t>
            </a:r>
            <a:endParaRPr/>
          </a:p>
          <a:p>
            <a:pPr indent="-331470" lvl="0" marL="457200" rtl="0" algn="l">
              <a:spcBef>
                <a:spcPts val="750"/>
              </a:spcBef>
              <a:spcAft>
                <a:spcPts val="0"/>
              </a:spcAft>
              <a:buSzPts val="1620"/>
              <a:buChar char="-"/>
            </a:pPr>
            <a:r>
              <a:rPr lang="fr-FR"/>
              <a:t>decrease threshold</a:t>
            </a:r>
            <a:endParaRPr/>
          </a:p>
        </p:txBody>
      </p:sp>
      <p:cxnSp>
        <p:nvCxnSpPr>
          <p:cNvPr id="202" name="Google Shape;202;p31"/>
          <p:cNvCxnSpPr/>
          <p:nvPr/>
        </p:nvCxnSpPr>
        <p:spPr>
          <a:xfrm flipH="1" rot="10800000">
            <a:off x="1876450" y="1563700"/>
            <a:ext cx="1047000" cy="728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31"/>
          <p:cNvCxnSpPr/>
          <p:nvPr/>
        </p:nvCxnSpPr>
        <p:spPr>
          <a:xfrm>
            <a:off x="5721525" y="1524625"/>
            <a:ext cx="1197900" cy="762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904875" y="131025"/>
            <a:ext cx="7726500" cy="5232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Questions ?</a:t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631238" y="195263"/>
            <a:ext cx="512700" cy="1635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575" y="654225"/>
            <a:ext cx="6316190" cy="418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3545" y="-5"/>
            <a:ext cx="1338750" cy="13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69" y="71032"/>
            <a:ext cx="1196675" cy="119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336" y="1143125"/>
            <a:ext cx="3108674" cy="27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1918350" y="4113125"/>
            <a:ext cx="61488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600">
                <a:solidFill>
                  <a:schemeClr val="lt1"/>
                </a:solidFill>
              </a:rPr>
              <a:t>Sobel ? Why not So Belle ? 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résentation EPFL, v3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